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Agrandir 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38770"/>
            <a:ext cx="10933541" cy="467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3"/>
              </a:lnSpc>
            </a:pPr>
            <a:r>
              <a:rPr lang="en-US" sz="8633" b="1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MARKETING PERFORMANCE ANALYSIS REPORT</a:t>
            </a:r>
          </a:p>
          <a:p>
            <a:pPr algn="l">
              <a:lnSpc>
                <a:spcPts val="8633"/>
              </a:lnSpc>
            </a:pPr>
            <a:endParaRPr lang="en-US" sz="8633" b="1">
              <a:solidFill>
                <a:srgbClr val="FFD90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861617"/>
            <a:ext cx="8115300" cy="57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1" spc="-71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HNG DATA ANALYSIS INTERNSHIP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718716"/>
            <a:ext cx="18288000" cy="568284"/>
            <a:chOff x="0" y="0"/>
            <a:chExt cx="3234610" cy="1496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4610" cy="149672"/>
            </a:xfrm>
            <a:custGeom>
              <a:avLst/>
              <a:gdLst/>
              <a:ahLst/>
              <a:cxnLst/>
              <a:rect l="l" t="t" r="r" b="b"/>
              <a:pathLst>
                <a:path w="3234610" h="149672">
                  <a:moveTo>
                    <a:pt x="0" y="0"/>
                  </a:moveTo>
                  <a:lnTo>
                    <a:pt x="3234610" y="0"/>
                  </a:lnTo>
                  <a:lnTo>
                    <a:pt x="3234610" y="149672"/>
                  </a:lnTo>
                  <a:lnTo>
                    <a:pt x="0" y="149672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3234610" cy="27349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7695134"/>
            <a:ext cx="8878392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Prepared by: Adediran Adeyemi (D-Analyst)</a:t>
            </a:r>
          </a:p>
        </p:txBody>
      </p:sp>
      <p:sp>
        <p:nvSpPr>
          <p:cNvPr id="8" name="AutoShape 8"/>
          <p:cNvSpPr/>
          <p:nvPr/>
        </p:nvSpPr>
        <p:spPr>
          <a:xfrm>
            <a:off x="1028700" y="7214406"/>
            <a:ext cx="10222318" cy="0"/>
          </a:xfrm>
          <a:prstGeom prst="line">
            <a:avLst/>
          </a:prstGeom>
          <a:ln w="38100" cap="flat">
            <a:solidFill>
              <a:srgbClr val="FFD90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2209" y="1359285"/>
            <a:ext cx="9283452" cy="842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89"/>
              </a:lnSpc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This report provides a comprehensive analysis of our recent marketing campaigns, highlighting key performance metrics, identifying critical issues, and offering actionable recommendations. The insights are based on a dataset of 200,005 campaigns across multiple companies, channels, and customer segments. The objective is to maximize ROI while improving conversion rates and customer engagement across all channels.  Key data observations:</a:t>
            </a:r>
          </a:p>
          <a:p>
            <a:pPr>
              <a:lnSpc>
                <a:spcPts val="3289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Data Types 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Some columns, such as Duration,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Acquisition_Cost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and Date, are currently stored as object types and may require preprocessing (e.g., converting to numeric or datetime formats).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Numerical Features 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Columns like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Conversion_Rate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ROI, Clicks, Impressions, and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Engagement_Score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provide quantitative measures of campaign performance.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Categorical Features :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Columns like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Campaign_Type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Channel_Used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Location, and </a:t>
            </a:r>
            <a:r>
              <a:rPr lang="en-US" sz="2300" dirty="0" err="1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Customer_Segment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allow for segmentation and grouping of campaigns</a:t>
            </a:r>
          </a:p>
          <a:p>
            <a:pPr marL="0" lvl="0" indent="0">
              <a:lnSpc>
                <a:spcPts val="3289"/>
              </a:lnSpc>
              <a:spcBef>
                <a:spcPct val="0"/>
              </a:spcBef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9718716"/>
            <a:ext cx="10972800" cy="568284"/>
            <a:chOff x="0" y="0"/>
            <a:chExt cx="2889956" cy="149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89956" cy="149672"/>
            </a:xfrm>
            <a:custGeom>
              <a:avLst/>
              <a:gdLst/>
              <a:ahLst/>
              <a:cxnLst/>
              <a:rect l="l" t="t" r="r" b="b"/>
              <a:pathLst>
                <a:path w="2889956" h="149672">
                  <a:moveTo>
                    <a:pt x="0" y="0"/>
                  </a:moveTo>
                  <a:lnTo>
                    <a:pt x="2889956" y="0"/>
                  </a:lnTo>
                  <a:lnTo>
                    <a:pt x="2889956" y="149672"/>
                  </a:lnTo>
                  <a:lnTo>
                    <a:pt x="0" y="149672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2889956" cy="27349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6496" y="183265"/>
            <a:ext cx="8115300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9"/>
              </a:lnSpc>
              <a:spcBef>
                <a:spcPct val="0"/>
              </a:spcBef>
            </a:pPr>
            <a:r>
              <a:rPr lang="en-US" sz="7299" b="1" u="none" strike="noStrike" dirty="0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0F48E-45B3-41C0-A942-8D3160609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81100"/>
            <a:ext cx="7315200" cy="9105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74D735-5EE9-4048-B208-40D1C6E29B80}"/>
              </a:ext>
            </a:extLst>
          </p:cNvPr>
          <p:cNvSpPr txBox="1"/>
          <p:nvPr/>
        </p:nvSpPr>
        <p:spPr>
          <a:xfrm>
            <a:off x="10972800" y="771275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Image showing the dataset information</a:t>
            </a:r>
            <a:endParaRPr lang="en-NG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0" y="9718716"/>
            <a:ext cx="10972800" cy="568284"/>
            <a:chOff x="0" y="0"/>
            <a:chExt cx="2889956" cy="149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9956" cy="149672"/>
            </a:xfrm>
            <a:custGeom>
              <a:avLst/>
              <a:gdLst/>
              <a:ahLst/>
              <a:cxnLst/>
              <a:rect l="l" t="t" r="r" b="b"/>
              <a:pathLst>
                <a:path w="2889956" h="149672">
                  <a:moveTo>
                    <a:pt x="0" y="0"/>
                  </a:moveTo>
                  <a:lnTo>
                    <a:pt x="2889956" y="0"/>
                  </a:lnTo>
                  <a:lnTo>
                    <a:pt x="2889956" y="149672"/>
                  </a:lnTo>
                  <a:lnTo>
                    <a:pt x="0" y="149672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889956" cy="27349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06669" y="1855127"/>
            <a:ext cx="10225442" cy="680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The analysis of 200,005 marketing campaigns reveals a mixed performance landscape. While the average ROI of 5.0 and conversion rate of 8.01% are positive, significant inefficiencies are limiting profitability. Key issues include:</a:t>
            </a:r>
          </a:p>
          <a:p>
            <a:pPr>
              <a:lnSpc>
                <a:spcPts val="2825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High cost per conversion variability, with some campaigns costing up to $19,432 per conversion.</a:t>
            </a: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Low engagement rates (mean: 0.14%), indicating content is not resonating strongly with audiences.</a:t>
            </a: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No statistically significant differences in ROI across campaign types, channels, locations, or customer segments, suggesting untapped optimization opportunities.</a:t>
            </a:r>
          </a:p>
          <a:p>
            <a:pPr>
              <a:lnSpc>
                <a:spcPts val="2825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2825"/>
              </a:lnSpc>
            </a:pPr>
            <a:r>
              <a:rPr lang="en-US" sz="2300" b="1" dirty="0">
                <a:solidFill>
                  <a:srgbClr val="FFD90F"/>
                </a:solidFill>
                <a:latin typeface="Inter Bold"/>
                <a:ea typeface="Inter Bold"/>
                <a:cs typeface="Inter Bold"/>
                <a:sym typeface="Inter Bold"/>
              </a:rPr>
              <a:t>Top Performers:</a:t>
            </a: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Customer Segment: "Foodies" (8.03% conversion rate, 5.00 ROI).</a:t>
            </a: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Campaign Type: "Influencer" (5.01 ROI, $631.66 cost per conversion).</a:t>
            </a:r>
          </a:p>
          <a:p>
            <a:pPr marL="508333" lvl="1" indent="-254166">
              <a:lnSpc>
                <a:spcPts val="2825"/>
              </a:lnSpc>
              <a:buFont typeface="Arial"/>
              <a:buChar char="•"/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Channel: "Website" (14.10 CTR, $31.78 CPC).</a:t>
            </a:r>
          </a:p>
          <a:p>
            <a:pPr>
              <a:lnSpc>
                <a:spcPts val="2825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>
              <a:lnSpc>
                <a:spcPts val="2825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706669" y="235493"/>
            <a:ext cx="9784792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9"/>
              </a:lnSpc>
              <a:spcBef>
                <a:spcPct val="0"/>
              </a:spcBef>
            </a:pPr>
            <a:r>
              <a:rPr lang="en-US" sz="7299" b="1" u="none" strike="noStrike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Findings &amp;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3CF3E-ACBE-4E60-906C-5E08750C4F60}"/>
              </a:ext>
            </a:extLst>
          </p:cNvPr>
          <p:cNvSpPr txBox="1"/>
          <p:nvPr/>
        </p:nvSpPr>
        <p:spPr>
          <a:xfrm>
            <a:off x="38100" y="634856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Table showing the summary statistics</a:t>
            </a:r>
            <a:endParaRPr lang="en-NG" i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615670-2B22-4C85-9D20-4444FE88E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1063"/>
            <a:ext cx="7315200" cy="4835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3E1145-4F88-42B2-8F4D-76C8EF26E592}"/>
              </a:ext>
            </a:extLst>
          </p:cNvPr>
          <p:cNvSpPr txBox="1"/>
          <p:nvPr/>
        </p:nvSpPr>
        <p:spPr>
          <a:xfrm>
            <a:off x="42862" y="5081731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Bar chart showing avg. conversion rate by customer segment</a:t>
            </a:r>
            <a:endParaRPr lang="en-NG" i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DD3F39-3B44-4414-B730-1A1E1652D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37935"/>
            <a:ext cx="7315199" cy="4043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22305"/>
            <a:ext cx="12470352" cy="764695"/>
            <a:chOff x="0" y="0"/>
            <a:chExt cx="3517177" cy="201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7177" cy="201401"/>
            </a:xfrm>
            <a:custGeom>
              <a:avLst/>
              <a:gdLst/>
              <a:ahLst/>
              <a:cxnLst/>
              <a:rect l="l" t="t" r="r" b="b"/>
              <a:pathLst>
                <a:path w="3517177" h="201401">
                  <a:moveTo>
                    <a:pt x="0" y="0"/>
                  </a:moveTo>
                  <a:lnTo>
                    <a:pt x="3517177" y="0"/>
                  </a:lnTo>
                  <a:lnTo>
                    <a:pt x="3517177" y="201401"/>
                  </a:lnTo>
                  <a:lnTo>
                    <a:pt x="0" y="201401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3517177" cy="32522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2144" y="161839"/>
            <a:ext cx="9882998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9"/>
              </a:lnSpc>
              <a:spcBef>
                <a:spcPct val="0"/>
              </a:spcBef>
            </a:pPr>
            <a:r>
              <a:rPr lang="en-US" sz="7299" b="1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Code &amp; 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" y="1337859"/>
            <a:ext cx="12170315" cy="885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89"/>
              </a:lnSpc>
            </a:pP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The analysis was conducted using a structured approach to ensure accuracy and reliability of insights.</a:t>
            </a:r>
          </a:p>
          <a:p>
            <a:pPr>
              <a:lnSpc>
                <a:spcPts val="3289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Cleaning: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No outliers or missing values were identified in the dataset.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Standardization: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Columns for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Duration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Date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2300" b="1" dirty="0" err="1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Acquisition_Cost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were standardized to ensure consistency.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KPI Calculation: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Key performance indicators such as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CPC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CTR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Cost per Conversion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were calculated based on available data points.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Descriptive Statistics: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Summary statistics (mean, standard deviation, min, max) were generated for all relevant metrics to understand central tendencies and variability.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Correlation Analysis: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A correlation matrix was created to evaluate relationships between key variables, including Conversion Rate, ROI, CPC, and Engagement Score.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Segment Analysis: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Data was segmented by </a:t>
            </a: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Location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00" b="1" dirty="0" err="1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Channel_Used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00" b="1" dirty="0" err="1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Target_Audience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2300" b="1" dirty="0" err="1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Customer_Segment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 to identify high-performing groups and areas for improvement.</a:t>
            </a:r>
          </a:p>
          <a:p>
            <a:pPr marL="507364" lvl="1" indent="-253682">
              <a:lnSpc>
                <a:spcPts val="3289"/>
              </a:lnSpc>
              <a:buFont typeface="Arial"/>
              <a:buChar char="•"/>
            </a:pPr>
            <a:r>
              <a:rPr lang="en-US" sz="2300" b="1" dirty="0">
                <a:solidFill>
                  <a:srgbClr val="FFD90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ANOVA Analysis: </a:t>
            </a:r>
            <a:r>
              <a:rPr lang="en-US" sz="23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Statistical tests were performed to assess significant differences in ROI across Campaign Types, Channels, Locations, and Customer Segments.</a:t>
            </a:r>
          </a:p>
          <a:p>
            <a:pPr>
              <a:lnSpc>
                <a:spcPts val="3289"/>
              </a:lnSpc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>
              <a:lnSpc>
                <a:spcPts val="3289"/>
              </a:lnSpc>
              <a:spcBef>
                <a:spcPct val="0"/>
              </a:spcBef>
            </a:pPr>
            <a:endParaRPr lang="en-US" sz="23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E41B0-F057-446D-A2A2-396123C8F1F4}"/>
              </a:ext>
            </a:extLst>
          </p:cNvPr>
          <p:cNvSpPr txBox="1"/>
          <p:nvPr/>
        </p:nvSpPr>
        <p:spPr>
          <a:xfrm>
            <a:off x="12470352" y="1249514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Code showing ANOVA result for channel used</a:t>
            </a:r>
            <a:endParaRPr lang="en-NG" i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54C328-3AC8-4B86-8839-A2EAB0761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352" y="1618846"/>
            <a:ext cx="5817649" cy="86681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1103"/>
            <a:ext cx="18288000" cy="725897"/>
            <a:chOff x="0" y="0"/>
            <a:chExt cx="4816593" cy="1911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1183"/>
            </a:xfrm>
            <a:custGeom>
              <a:avLst/>
              <a:gdLst/>
              <a:ahLst/>
              <a:cxnLst/>
              <a:rect l="l" t="t" r="r" b="b"/>
              <a:pathLst>
                <a:path w="4816592" h="191183">
                  <a:moveTo>
                    <a:pt x="0" y="0"/>
                  </a:moveTo>
                  <a:lnTo>
                    <a:pt x="4816592" y="0"/>
                  </a:lnTo>
                  <a:lnTo>
                    <a:pt x="4816592" y="191183"/>
                  </a:lnTo>
                  <a:lnTo>
                    <a:pt x="0" y="191183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816593" cy="3150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9168" y="17753"/>
            <a:ext cx="8577117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9"/>
              </a:lnSpc>
              <a:spcBef>
                <a:spcPct val="0"/>
              </a:spcBef>
            </a:pPr>
            <a:r>
              <a:rPr lang="en-US" sz="7299" b="1" dirty="0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9168" y="1104900"/>
            <a:ext cx="13092032" cy="7992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89"/>
              </a:lnSpc>
              <a:spcBef>
                <a:spcPct val="0"/>
              </a:spcBef>
            </a:pPr>
            <a:r>
              <a:rPr lang="en-US" sz="19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To refine our targeting strategies, we will focus on the "Foodies" segment, which has an impressive 8.03% conversion rate and a 5.00 ROI. We'll re-evaluate the targeting for "Women 35-44" given their similar performance with an 8.01% conversion rate and 5.01 ROI. Additionally, we plan to test hyper-targeted campaigns for "Men 18-24" to improve conversion rates, as this group currently has a strong CTR of 14.05.</a:t>
            </a:r>
          </a:p>
          <a:p>
            <a:pPr>
              <a:lnSpc>
                <a:spcPts val="3289"/>
              </a:lnSpc>
              <a:spcBef>
                <a:spcPct val="0"/>
              </a:spcBef>
            </a:pPr>
            <a:endParaRPr lang="en-US" sz="19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  <a:spcBef>
                <a:spcPct val="0"/>
              </a:spcBef>
            </a:pPr>
            <a:r>
              <a:rPr lang="en-US" sz="19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Optimizing the channel mix will involve reallocating more budget to "Website" campaigns, which have a 14.10 CTR and a $31.78 CPC. In contrast, we'll reduce spending on "Google Ads," which shows slightly lower performance with a 13.92 CTR and a $32.31 CPC. We also plan to leverage "Influencer" campaigns, as they show promising results with a 5.01 ROI and a cost per conversion of $631.66.</a:t>
            </a:r>
          </a:p>
          <a:p>
            <a:pPr>
              <a:lnSpc>
                <a:spcPts val="3289"/>
              </a:lnSpc>
              <a:spcBef>
                <a:spcPct val="0"/>
              </a:spcBef>
            </a:pPr>
            <a:endParaRPr lang="en-US" sz="19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  <a:spcBef>
                <a:spcPct val="0"/>
              </a:spcBef>
            </a:pPr>
            <a:r>
              <a:rPr lang="en-US" sz="19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To enhance content engagement, we will invest in more creative content, as our engagement rate is currently 0.14%. A/B testing ad creatives for both "Foodies" and "Tech Enthusiasts" will help optimize messaging. We'll also focus on personalizing content for "Women 25-34," who show high engagement potential with a 7.99% conversion rate.</a:t>
            </a:r>
          </a:p>
          <a:p>
            <a:pPr>
              <a:lnSpc>
                <a:spcPts val="3289"/>
              </a:lnSpc>
              <a:spcBef>
                <a:spcPct val="0"/>
              </a:spcBef>
            </a:pPr>
            <a:endParaRPr lang="en-US" sz="19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  <a:spcBef>
                <a:spcPct val="0"/>
              </a:spcBef>
            </a:pPr>
            <a:r>
              <a:rPr lang="en-US" sz="19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For ongoing monitoring and budget allocation adjustments, we will track the cost per conversion and ROI by channel, campaign type, and segment. Budgets will be shifted toward campaigns with a cost per conversion below $635.34, such as "Social Media" ($629.90). Additionally, we will implement a cost per conversion cap to prevent overspending on underperforming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72103"/>
            <a:ext cx="18288000" cy="667455"/>
            <a:chOff x="0" y="0"/>
            <a:chExt cx="4816593" cy="175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75791"/>
            </a:xfrm>
            <a:custGeom>
              <a:avLst/>
              <a:gdLst/>
              <a:ahLst/>
              <a:cxnLst/>
              <a:rect l="l" t="t" r="r" b="b"/>
              <a:pathLst>
                <a:path w="4816592" h="175791">
                  <a:moveTo>
                    <a:pt x="0" y="0"/>
                  </a:moveTo>
                  <a:lnTo>
                    <a:pt x="4816592" y="0"/>
                  </a:lnTo>
                  <a:lnTo>
                    <a:pt x="4816592" y="175791"/>
                  </a:lnTo>
                  <a:lnTo>
                    <a:pt x="0" y="175791"/>
                  </a:lnTo>
                  <a:close/>
                </a:path>
              </a:pathLst>
            </a:custGeom>
            <a:solidFill>
              <a:srgbClr val="FFD9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816593" cy="29961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9168" y="127995"/>
            <a:ext cx="12750848" cy="117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9"/>
              </a:lnSpc>
              <a:spcBef>
                <a:spcPct val="0"/>
              </a:spcBef>
            </a:pPr>
            <a:r>
              <a:rPr lang="en-US" sz="7299" b="1">
                <a:solidFill>
                  <a:srgbClr val="FFD90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 &amp; Next Steps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9169" y="1181100"/>
            <a:ext cx="12750847" cy="8421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89"/>
              </a:lnSpc>
            </a:pPr>
            <a:r>
              <a:rPr lang="en-US" sz="21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Our marketing campaigns are performing well, with an average ROI of 5.0 and a conversion rate of 8.01%. However, there are inefficiencies in targeting, channel allocation, and customer engagement that present opportunities for improvement. By addressing these challenges, we can lower costs, increase customer engagement, and achieve higher returns.</a:t>
            </a:r>
          </a:p>
          <a:p>
            <a:pPr>
              <a:lnSpc>
                <a:spcPts val="3289"/>
              </a:lnSpc>
            </a:pPr>
            <a:endParaRPr lang="en-US" sz="21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</a:pPr>
            <a:r>
              <a:rPr lang="en-US" sz="21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The immediate focus should be on conducting an in-depth analysis of the successful "Foodies" segment to replicate their success across other campaigns. Additionally, a pilot program will be launched to test hyper-targeted messaging aimed at "Men 18-24" and "Women 35-44.“ </a:t>
            </a:r>
          </a:p>
          <a:p>
            <a:pPr>
              <a:lnSpc>
                <a:spcPts val="3289"/>
              </a:lnSpc>
            </a:pPr>
            <a:r>
              <a:rPr lang="en-US" sz="21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In the short term (1-2 months), we will develop a content calendar designed around high-engagement themes for key demographics. A task force will also be established to monitor and optimize underperforming campaigns in real-time.</a:t>
            </a:r>
          </a:p>
          <a:p>
            <a:pPr>
              <a:lnSpc>
                <a:spcPts val="3289"/>
              </a:lnSpc>
            </a:pPr>
            <a:endParaRPr lang="en-US" sz="21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</a:pPr>
            <a:r>
              <a:rPr lang="en-US" sz="21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For ongoing monitoring, we will implement a dashboard to track key performance indicators such as cost per conversion, CTR, and ROI, broken down by segment and channel. Bi-weekly reviews will be scheduled to assess progress and adjust strategies accordingly. </a:t>
            </a:r>
          </a:p>
          <a:p>
            <a:pPr>
              <a:lnSpc>
                <a:spcPts val="3289"/>
              </a:lnSpc>
            </a:pPr>
            <a:endParaRPr lang="en-US" sz="2100" dirty="0">
              <a:solidFill>
                <a:srgbClr val="FFD90F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ts val="3289"/>
              </a:lnSpc>
            </a:pPr>
            <a:r>
              <a:rPr lang="en-US" sz="2100" dirty="0">
                <a:solidFill>
                  <a:srgbClr val="FFD90F"/>
                </a:solidFill>
                <a:latin typeface="Inter"/>
                <a:ea typeface="Inter"/>
                <a:cs typeface="Inter"/>
                <a:sym typeface="Inter"/>
              </a:rPr>
              <a:t>Looking ahead to the long term (3-6 months), we will invest in advanced analytics tools to enhance our ability to predict customer behavior and campaign outcomes. A cross-functional team will also be formed to align marketing efforts with sales and product development, ensuring a cohesive customer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1071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 Bold</vt:lpstr>
      <vt:lpstr>Arial</vt:lpstr>
      <vt:lpstr>Calibri</vt:lpstr>
      <vt:lpstr>Inter</vt:lpstr>
      <vt:lpstr>Agrandir Bold</vt:lpstr>
      <vt:lpstr>Inter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Change Management Strategy Slides</dc:title>
  <cp:lastModifiedBy>Adediran Adeyemi</cp:lastModifiedBy>
  <cp:revision>16</cp:revision>
  <dcterms:created xsi:type="dcterms:W3CDTF">2006-08-16T00:00:00Z</dcterms:created>
  <dcterms:modified xsi:type="dcterms:W3CDTF">2025-02-12T18:27:50Z</dcterms:modified>
  <dc:identifier>DAGez45OINQ</dc:identifier>
</cp:coreProperties>
</file>